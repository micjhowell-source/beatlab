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Rethinking Wound Cleansing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F0F0"/>
                </a:solidFill>
                <a:latin typeface="Calibri"/>
              </a:defRPr>
            </a:pPr>
            <a:r>
              <a:t>Evidence-Based Practice Improvement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Megan Howell 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DCDC"/>
                </a:solidFill>
                <a:latin typeface="Calibri"/>
              </a:defRPr>
            </a:pPr>
            <a:r>
              <a:t>Based on the IWII/Wounds International Consensus Document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DCDC"/>
                </a:solidFill>
                <a:latin typeface="Calibri"/>
              </a:defRPr>
            </a:pPr>
            <a:r>
              <a:t>Therapeutic Wound &amp; Skin Cleansing: Clinical Evidence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Does This Matter?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 b="1">
                <a:solidFill>
                  <a:srgbClr val="3C3C3C"/>
                </a:solidFill>
                <a:latin typeface="Calibri"/>
              </a:defRPr>
            </a:pPr>
            <a:r>
              <a:t>• What are we currently doing?</a:t>
            </a:r>
          </a:p>
          <a:p>
            <a:pPr>
              <a:spcAft>
                <a:spcPts val="68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• Chlorhexidine 0.05% + Cetrimide 5% used to cleanse wounds routinely after dressing removal</a:t>
            </a:r>
          </a:p>
          <a:p>
            <a:pPr>
              <a:spcAft>
                <a:spcPts val="68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• Applied to all wound types regardless of infection status</a:t>
            </a:r>
          </a:p>
          <a:p>
            <a:pPr>
              <a:spcAft>
                <a:spcPts val="680"/>
              </a:spcAft>
              <a:defRPr sz="1700">
                <a:solidFill>
                  <a:srgbClr val="3C3C3C"/>
                </a:solidFill>
                <a:latin typeface="Calibri"/>
              </a:defRPr>
            </a:pPr>
            <a:r>
              <a:t>• This is a common practice — but is it best practice?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64"/>
                </a:solidFill>
                <a:latin typeface="Calibri"/>
              </a:defRPr>
            </a:pPr>
            <a:r>
              <a:t>Key Question</a:t>
            </a:r>
            <a:br/>
            <a:br/>
            <a:r>
              <a:t>Are we helping or hindering</a:t>
            </a:r>
            <a:br/>
            <a:r>
              <a:t>wound healing with routine</a:t>
            </a:r>
            <a:br/>
            <a:r>
              <a:t>antiseptic cleansing?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657600"/>
            <a:ext cx="5029200" cy="2560320"/>
          </a:xfrm>
          <a:prstGeom prst="round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006464"/>
                </a:solidFill>
                <a:latin typeface="Calibri"/>
              </a:defRPr>
            </a:pPr>
            <a:r>
              <a:t>The 2025 IWII Consensus</a:t>
            </a:r>
            <a:br/>
            <a:br/>
            <a:r>
              <a:t>&gt; Systematic literature review</a:t>
            </a:r>
            <a:br/>
            <a:r>
              <a:t>&gt; Delphi consensus process</a:t>
            </a:r>
            <a:br/>
            <a:r>
              <a:t>&gt; 13 clinical recommendations</a:t>
            </a:r>
            <a:br/>
            <a:r>
              <a:t>&gt; International expert panel</a:t>
            </a:r>
            <a:br/>
            <a:r>
              <a:t>&gt; Strongest wound cleansing</a:t>
            </a:r>
            <a:br/>
            <a:r>
              <a:t>   guidance to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Are We Cleansing? — Know Your Wound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548640"/>
          </a:xfrm>
          <a:prstGeom prst="roundRect">
            <a:avLst/>
          </a:prstGeom>
          <a:solidFill>
            <a:srgbClr val="2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Clean / Healing Wound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474720" cy="27432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87878"/>
                </a:solidFill>
                <a:latin typeface="Calibri"/>
              </a:defRPr>
            </a:pPr>
            <a:r>
              <a:t>INSERT PHOTO</a:t>
            </a:r>
            <a:br/>
            <a:br/>
            <a:r>
              <a:t>Clean granulating wound</a:t>
            </a:r>
            <a:br/>
            <a:r>
              <a:t>or healing skin tear</a:t>
            </a:r>
          </a:p>
          <a:p>
            <a:pPr algn="ctr">
              <a:defRPr sz="1100">
                <a:solidFill>
                  <a:srgbClr val="787878"/>
                </a:solidFill>
                <a:latin typeface="Calibri"/>
              </a:defRPr>
            </a:pPr>
            <a:r>
              <a:t>Right-click → Change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28A050"/>
                </a:solidFill>
                <a:latin typeface="Calibri"/>
              </a:defRPr>
            </a:pPr>
            <a:r>
              <a:t>• Healthy granulation tissue</a:t>
            </a:r>
          </a:p>
          <a:p>
            <a:pPr>
              <a:spcAft>
                <a:spcPts val="520"/>
              </a:spcAft>
              <a:defRPr sz="1300">
                <a:solidFill>
                  <a:srgbClr val="28A050"/>
                </a:solidFill>
                <a:latin typeface="Calibri"/>
              </a:defRPr>
            </a:pPr>
            <a:r>
              <a:t>• No signs of infection</a:t>
            </a:r>
          </a:p>
          <a:p>
            <a:pPr>
              <a:spcAft>
                <a:spcPts val="520"/>
              </a:spcAft>
              <a:defRPr sz="1300">
                <a:solidFill>
                  <a:srgbClr val="28A050"/>
                </a:solidFill>
                <a:latin typeface="Calibri"/>
              </a:defRPr>
            </a:pPr>
            <a:r>
              <a:t>• Cleanse with SALINE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548640"/>
          </a:xfrm>
          <a:prstGeom prst="roundRect">
            <a:avLst/>
          </a:prstGeom>
          <a:solidFill>
            <a:srgbClr val="DC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Biofilm /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474720" cy="27432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87878"/>
                </a:solidFill>
                <a:latin typeface="Calibri"/>
              </a:defRPr>
            </a:pPr>
            <a:r>
              <a:t>INSERT PHOTO</a:t>
            </a:r>
            <a:br/>
            <a:br/>
            <a:r>
              <a:t>Wound with suspected biofilm</a:t>
            </a:r>
            <a:br/>
            <a:r>
              <a:t>or stalled healing</a:t>
            </a:r>
          </a:p>
          <a:p>
            <a:pPr algn="ctr">
              <a:defRPr sz="1100">
                <a:solidFill>
                  <a:srgbClr val="787878"/>
                </a:solidFill>
                <a:latin typeface="Calibri"/>
              </a:defRPr>
            </a:pPr>
            <a:r>
              <a:t>Right-click → Change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4846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DCA01E"/>
                </a:solidFill>
                <a:latin typeface="Calibri"/>
              </a:defRPr>
            </a:pPr>
            <a:r>
              <a:t>• Slimy / shiny wound bed</a:t>
            </a:r>
          </a:p>
          <a:p>
            <a:pPr>
              <a:spcAft>
                <a:spcPts val="520"/>
              </a:spcAft>
              <a:defRPr sz="1300">
                <a:solidFill>
                  <a:srgbClr val="DCA01E"/>
                </a:solidFill>
                <a:latin typeface="Calibri"/>
              </a:defRPr>
            </a:pPr>
            <a:r>
              <a:t>• Stalled healing despite treatment</a:t>
            </a:r>
          </a:p>
          <a:p>
            <a:pPr>
              <a:spcAft>
                <a:spcPts val="520"/>
              </a:spcAft>
              <a:defRPr sz="1300">
                <a:solidFill>
                  <a:srgbClr val="DCA01E"/>
                </a:solidFill>
                <a:latin typeface="Calibri"/>
              </a:defRPr>
            </a:pPr>
            <a:r>
              <a:t>• Consider antimicrobial cleanser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474720" cy="54864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Infected Wound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474720" cy="27432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87878"/>
                </a:solidFill>
                <a:latin typeface="Calibri"/>
              </a:defRPr>
            </a:pPr>
            <a:r>
              <a:t>INSERT PHOTO</a:t>
            </a:r>
            <a:br/>
            <a:br/>
            <a:r>
              <a:t>Clinically infected wound</a:t>
            </a:r>
            <a:br/>
            <a:r>
              <a:t>(spreading erythema, purulence)</a:t>
            </a:r>
          </a:p>
          <a:p>
            <a:pPr algn="ctr">
              <a:defRPr sz="1100">
                <a:solidFill>
                  <a:srgbClr val="787878"/>
                </a:solidFill>
                <a:latin typeface="Calibri"/>
              </a:defRPr>
            </a:pPr>
            <a:r>
              <a:t>Right-click → Change Picture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463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C83232"/>
                </a:solidFill>
                <a:latin typeface="Calibri"/>
              </a:defRPr>
            </a:pPr>
            <a:r>
              <a:t>• Classic infection signs (NERDS/STONEES)</a:t>
            </a:r>
          </a:p>
          <a:p>
            <a:pPr>
              <a:spcAft>
                <a:spcPts val="520"/>
              </a:spcAft>
              <a:defRPr sz="1300">
                <a:solidFill>
                  <a:srgbClr val="C83232"/>
                </a:solidFill>
                <a:latin typeface="Calibri"/>
              </a:defRPr>
            </a:pPr>
            <a:r>
              <a:t>• Systemic + local treatment</a:t>
            </a:r>
          </a:p>
          <a:p>
            <a:pPr>
              <a:spcAft>
                <a:spcPts val="520"/>
              </a:spcAft>
              <a:defRPr sz="1300">
                <a:solidFill>
                  <a:srgbClr val="C83232"/>
                </a:solidFill>
                <a:latin typeface="Calibri"/>
              </a:defRPr>
            </a:pPr>
            <a:r>
              <a:t>• Targeted short-term antiseptic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DC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Biofilm? — A Quick 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A biofilm is a community of bacteria that stick together and coat themselves in a protective slime layer (matrix)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This matrix shields bacteria from antibiotics, antiseptics, and the body's immune response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Present in up to 78% of chronic wounds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Often invisible to the naked eye — but can appear as a slimy, shiny coating on the wound bed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87878"/>
                </a:solidFill>
                <a:latin typeface="Calibri"/>
              </a:defRPr>
            </a:pPr>
            <a:r>
              <a:t>INSERT PHOTO</a:t>
            </a:r>
            <a:br/>
            <a:br/>
            <a:r>
              <a:t>Biofilm on a wound bed</a:t>
            </a:r>
            <a:br/>
            <a:r>
              <a:t>(slimy/shiny appearance)</a:t>
            </a:r>
          </a:p>
          <a:p>
            <a:pPr algn="ctr">
              <a:defRPr sz="1100">
                <a:solidFill>
                  <a:srgbClr val="787878"/>
                </a:solidFill>
                <a:latin typeface="Calibri"/>
              </a:defRPr>
            </a:pPr>
            <a:r>
              <a:t>Right-click → Change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5303520" cy="2743200"/>
          </a:xfrm>
          <a:prstGeom prst="round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6464"/>
                </a:solidFill>
                <a:latin typeface="Calibri"/>
              </a:defRPr>
            </a:pPr>
            <a:r>
              <a:t>Why Does Biofilm Matter?</a:t>
            </a:r>
            <a:br/>
            <a:br/>
            <a:r>
              <a:t>&gt; Delays wound healing significantly</a:t>
            </a:r>
            <a:br/>
            <a:r>
              <a:t>&gt; Reforms within 24 hours of disruption</a:t>
            </a:r>
            <a:br/>
            <a:r>
              <a:t>&gt; Cannot be removed by rinsing alone</a:t>
            </a:r>
            <a:br/>
            <a:r>
              <a:t>&gt; Requires active mechanical disruption</a:t>
            </a:r>
            <a:br/>
            <a:r>
              <a:t>   + antimicrobial cleansing</a:t>
            </a:r>
            <a:br/>
            <a:r>
              <a:t>&gt; CHX is NOT the right tool — modern</a:t>
            </a:r>
            <a:br/>
            <a:r>
              <a:t>   antiseptics (PHMB, HOCl) are more</a:t>
            </a:r>
            <a:br/>
            <a:r>
              <a:t>   effective with less tissue damage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657600"/>
            <a:ext cx="5029200" cy="2743200"/>
          </a:xfrm>
          <a:prstGeom prst="round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3C3C3C"/>
                </a:solidFill>
                <a:latin typeface="Calibri"/>
              </a:defRPr>
            </a:pPr>
            <a:r>
              <a:t>Clinical Clues — Suspect Biofilm When:</a:t>
            </a:r>
            <a:br/>
            <a:br/>
            <a:r>
              <a:t>&gt; Wound has stalled despite appropriate care</a:t>
            </a:r>
            <a:br/>
            <a:r>
              <a:t>&gt; Slimy or shiny wound bed surface</a:t>
            </a:r>
            <a:br/>
            <a:r>
              <a:t>&gt; Friable granulation tissue</a:t>
            </a:r>
            <a:br/>
            <a:r>
              <a:t>&gt; Recurring local infection</a:t>
            </a:r>
            <a:br/>
            <a:r>
              <a:t>&gt; Wound responds to antimicrobials</a:t>
            </a:r>
            <a:br/>
            <a:r>
              <a:t>   but relapses when stopped</a:t>
            </a:r>
            <a:br/>
            <a:r>
              <a:t>&gt; Failed to progress in 2–4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Problem: Chlorhexidine + Cetrimide on Wounds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548640"/>
          </a:xfrm>
          <a:prstGeom prst="roundRect">
            <a:avLst/>
          </a:prstGeom>
          <a:solidFill>
            <a:srgbClr val="0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Cytotoxicity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Fibroblasts exposed to 0.05% CHX for 15 mins — non-viable within 24 hours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Even at 0.002% CHX suppresses cell division almost completely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Cetrimide adds further cytotoxic burden — disrupts cell membranes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Dose- and time-dependent damage to the very cells that heal wounds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474720" cy="54864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 Gets Damaged?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Fibroblasts — produce collagen and extracellular matrix for wound repair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Keratinocytes — drive re-epithelialisation and wound closure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Growth factors — disrupted signalling cascades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Granulation tissue — the foundation of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474720" cy="548640"/>
          </a:xfrm>
          <a:prstGeom prst="roundRect">
            <a:avLst/>
          </a:prstGeom>
          <a:solidFill>
            <a:srgbClr val="DC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Clinical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202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Delayed wound healing — more visits, more costs, more patient burden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No evidence of benefit for routine use on non-infected wounds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CHX group showed more days to healing vs saline in comparative studies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We may be undoing our good wound management with every dressing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303520"/>
            <a:ext cx="9144000" cy="10972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C83232"/>
                </a:solidFill>
                <a:latin typeface="Calibri"/>
              </a:defRPr>
            </a:pPr>
            <a:r>
              <a:t>"Antiseptics should not be used routinely on wounds that are healing normally"</a:t>
            </a:r>
            <a:br/>
            <a:r>
              <a:t>— Consistent finding across wound care literature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Should We Use? — IWII 2025 Guidance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640080"/>
          </a:xfrm>
          <a:prstGeom prst="roundRect">
            <a:avLst/>
          </a:prstGeom>
          <a:solidFill>
            <a:srgbClr val="2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Clean / Healing Wounds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Normal saline (0.9% NaCl)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Potable/tap water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Sterile water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Non-cytotoxic, non-allergenic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Supports the healing environment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Maintains optimal wound pH (4-5.5)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This covers MOST of our wounds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474720" cy="640080"/>
          </a:xfrm>
          <a:prstGeom prst="roundRect">
            <a:avLst/>
          </a:prstGeom>
          <a:solidFill>
            <a:srgbClr val="DC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Infection Risk / Biofilm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PHMB (polyhexanide)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Hypochlorous acid (HOCl)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Octenidine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Modern antiseptics — safe + effective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Targeted biofilm disruption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Lower cytotoxicity than CHX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Use purposefully, not prophylactically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474720" cy="640080"/>
          </a:xfrm>
          <a:prstGeom prst="roundRect">
            <a:avLst/>
          </a:prstGeom>
          <a:solidFill>
            <a:srgbClr val="C8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Avoid for Routine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Chlorhexidine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Cetrimide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Hydrogen peroxide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Cytotoxic to healing cells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No evidence of benefit in clean wounds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Disrupts wound pH</a:t>
            </a:r>
          </a:p>
          <a:p>
            <a:pPr>
              <a:spcAft>
                <a:spcPts val="56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• Damages granulation tissue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303520"/>
            <a:ext cx="9144000" cy="1097280"/>
          </a:xfrm>
          <a:prstGeom prst="round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464"/>
                </a:solidFill>
                <a:latin typeface="Calibri"/>
              </a:defRPr>
            </a:pPr>
            <a:r>
              <a:t>IWII 2025: "Solution selection should align with the wound's infection status"</a:t>
            </a:r>
            <a:br/>
            <a:r>
              <a:t>Clean wounds = inert solutions  |  Infection/biofilm = targeted modern antiseptics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Wound Cleansing Decision Framework — 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Adapted from the IWII 2025 Wound Cleansing Continuum (p.32)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ASSESS</a:t>
            </a:r>
            <a:br/>
            <a:br/>
            <a:br/>
            <a:r>
              <a:t>Examine:</a:t>
            </a:r>
            <a:br/>
            <a:r>
              <a:t>&gt; Wound bed</a:t>
            </a:r>
            <a:br/>
            <a:r>
              <a:t>&gt; Wound edges</a:t>
            </a:r>
            <a:br/>
            <a:r>
              <a:t>&gt; Periwound skin</a:t>
            </a:r>
            <a:br/>
            <a:r>
              <a:t>&gt; Surrounding skin</a:t>
            </a:r>
            <a:br/>
            <a:br/>
            <a:r>
              <a:t>What do you see?</a:t>
            </a:r>
            <a:br/>
            <a:r>
              <a:t>What has changed</a:t>
            </a:r>
            <a:br/>
            <a:r>
              <a:t>since last visit?</a:t>
            </a:r>
          </a:p>
        </p:txBody>
      </p:sp>
      <p:sp>
        <p:nvSpPr>
          <p:cNvPr id="5" name="Oval 4"/>
          <p:cNvSpPr/>
          <p:nvPr/>
        </p:nvSpPr>
        <p:spPr>
          <a:xfrm>
            <a:off x="3291840" y="32004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080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45920"/>
            <a:ext cx="2560320" cy="4114800"/>
          </a:xfrm>
          <a:prstGeom prst="roundRect">
            <a:avLst/>
          </a:prstGeom>
          <a:solidFill>
            <a:srgbClr val="DC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DECIDE</a:t>
            </a:r>
            <a:br/>
            <a:br/>
            <a:br/>
            <a:r>
              <a:t>Determine wound</a:t>
            </a:r>
            <a:br/>
            <a:r>
              <a:t>infection status:</a:t>
            </a:r>
            <a:br/>
            <a:br/>
            <a:r>
              <a:t>&gt; Bacterial balance?</a:t>
            </a:r>
            <a:br/>
            <a:r>
              <a:t>&gt; Local infection?</a:t>
            </a:r>
            <a:br/>
            <a:r>
              <a:t>&gt; Spreading infection?</a:t>
            </a:r>
            <a:br/>
            <a:r>
              <a:t>&gt; Biofilm suspected?</a:t>
            </a:r>
            <a:br/>
            <a:br/>
            <a:r>
              <a:t>This drives your</a:t>
            </a:r>
            <a:br/>
            <a:r>
              <a:t>solution choice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32004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080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2286000" cy="4114800"/>
          </a:xfrm>
          <a:prstGeom prst="roundRect">
            <a:avLst/>
          </a:prstGeom>
          <a:solidFill>
            <a:srgbClr val="2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SELECT</a:t>
            </a:r>
            <a:br/>
            <a:br/>
            <a:br/>
            <a:r>
              <a:t>Choose:</a:t>
            </a:r>
            <a:br/>
            <a:r>
              <a:t>&gt; Solution</a:t>
            </a:r>
            <a:br/>
            <a:r>
              <a:t>&gt; Technique</a:t>
            </a:r>
            <a:br/>
            <a:r>
              <a:t>&gt; Irrigation pressure</a:t>
            </a:r>
            <a:br/>
            <a:r>
              <a:t>&gt; Frequency</a:t>
            </a:r>
            <a:br/>
            <a:br/>
            <a:r>
              <a:t>Match solution</a:t>
            </a:r>
            <a:br/>
            <a:r>
              <a:t>to wound status</a:t>
            </a:r>
            <a:br/>
            <a:r>
              <a:t>(see next slide)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32004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8080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1645920"/>
            <a:ext cx="1371600" cy="4114800"/>
          </a:xfrm>
          <a:prstGeom prst="roundRect">
            <a:avLst/>
          </a:prstGeom>
          <a:solidFill>
            <a:srgbClr val="0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</a:t>
            </a:r>
            <a:br/>
            <a:r>
              <a:t>EVALUATE</a:t>
            </a:r>
            <a:br/>
            <a:br/>
            <a:br/>
            <a:r>
              <a:t>Is the</a:t>
            </a:r>
            <a:br/>
            <a:r>
              <a:t>wound</a:t>
            </a:r>
            <a:br/>
            <a:r>
              <a:t>improving?</a:t>
            </a:r>
            <a:br/>
            <a:br/>
            <a:r>
              <a:t>If not,</a:t>
            </a:r>
            <a:br/>
            <a:r>
              <a:t>reassess</a:t>
            </a:r>
            <a:br/>
            <a:r>
              <a:t>and</a:t>
            </a:r>
            <a:br/>
            <a:r>
              <a:t>adjust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035040"/>
            <a:ext cx="9144000" cy="640080"/>
          </a:xfrm>
          <a:prstGeom prst="round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464"/>
                </a:solidFill>
                <a:latin typeface="Calibri"/>
              </a:defRPr>
            </a:pPr>
            <a:r>
              <a:t>Key principle: ASSESS before you pour — the wound status determines the solution, not habit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Wound Cleansing Pathways — Matching Solution to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Adapted from the IWII 2025 Wound Cleansing Continuum (p.32)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657600" cy="4572000"/>
          </a:xfrm>
          <a:prstGeom prst="roundRect">
            <a:avLst/>
          </a:prstGeom>
          <a:solidFill>
            <a:srgbClr val="E6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006464"/>
                </a:solidFill>
                <a:latin typeface="Calibri"/>
              </a:defRPr>
            </a:pPr>
            <a:r>
              <a:t>BACTERIAL BALANCE</a:t>
            </a:r>
            <a:br/>
            <a:r>
              <a:t>(Most of our wounds)</a:t>
            </a:r>
            <a:br/>
            <a:br/>
            <a:r>
              <a:t>Solution:</a:t>
            </a:r>
            <a:br/>
            <a:r>
              <a:t>&gt; Normal saline (0.9% NaCl)</a:t>
            </a:r>
            <a:br/>
            <a:r>
              <a:t>&gt; Potable / tap water</a:t>
            </a:r>
            <a:br/>
            <a:br/>
            <a:r>
              <a:t>Technique:</a:t>
            </a:r>
            <a:br/>
            <a:r>
              <a:t>&gt; Gentle irrigation</a:t>
            </a:r>
            <a:br/>
            <a:r>
              <a:t>&gt; Cleanse wound bed, edges</a:t>
            </a:r>
            <a:br/>
            <a:r>
              <a:t>   and periwound skin</a:t>
            </a:r>
            <a:br/>
            <a:br/>
            <a:r>
              <a:t>Frequency:</a:t>
            </a:r>
            <a:br/>
            <a:r>
              <a:t>&gt; Each dressing change</a:t>
            </a:r>
            <a:br/>
            <a:r>
              <a:t>&gt; Reassess at every visit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645920"/>
            <a:ext cx="3657600" cy="4572000"/>
          </a:xfrm>
          <a:prstGeom prst="round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3C3C3C"/>
                </a:solidFill>
                <a:latin typeface="Calibri"/>
              </a:defRPr>
            </a:pPr>
            <a:r>
              <a:t>BIOFILM / AT RISK</a:t>
            </a:r>
            <a:br/>
            <a:br/>
            <a:br/>
            <a:r>
              <a:t>Solution:</a:t>
            </a:r>
            <a:br/>
            <a:r>
              <a:t>&gt; PHMB (polyhexanide)</a:t>
            </a:r>
            <a:br/>
            <a:r>
              <a:t>&gt; Hypochlorous acid (HOCl)</a:t>
            </a:r>
            <a:br/>
            <a:r>
              <a:t>&gt; Octenidine</a:t>
            </a:r>
            <a:br/>
            <a:br/>
            <a:r>
              <a:t>Technique:</a:t>
            </a:r>
            <a:br/>
            <a:r>
              <a:t>&gt; Active mechanical cleansing</a:t>
            </a:r>
            <a:br/>
            <a:r>
              <a:t>&gt; Wound bed preparation</a:t>
            </a:r>
            <a:br/>
            <a:r>
              <a:t>&gt; Debridement if indicated</a:t>
            </a:r>
            <a:br/>
            <a:br/>
            <a:r>
              <a:t>Key: Treat the cause,</a:t>
            </a:r>
            <a:br/>
            <a:r>
              <a:t>not routine prophylaxis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657600" cy="457200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C83232"/>
                </a:solidFill>
                <a:latin typeface="Calibri"/>
              </a:defRPr>
            </a:pPr>
            <a:r>
              <a:t>INFECTED WOUND</a:t>
            </a:r>
            <a:br/>
            <a:br/>
            <a:br/>
            <a:r>
              <a:t>Solution:</a:t>
            </a:r>
            <a:br/>
            <a:r>
              <a:t>&gt; Antimicrobial cleanser</a:t>
            </a:r>
            <a:br/>
            <a:r>
              <a:t>&gt; + systemic Abx as needed</a:t>
            </a:r>
            <a:br/>
            <a:br/>
            <a:r>
              <a:t>Technique:</a:t>
            </a:r>
            <a:br/>
            <a:r>
              <a:t>&gt; Discuss with GP</a:t>
            </a:r>
            <a:br/>
            <a:r>
              <a:t>&gt; Swab if clinically indicated</a:t>
            </a:r>
            <a:br/>
            <a:r>
              <a:t>&gt; Targeted short-term antiseptic</a:t>
            </a:r>
            <a:br/>
            <a:br/>
            <a:r>
              <a:t>Key: Step DOWN to saline</a:t>
            </a:r>
            <a:br/>
            <a:r>
              <a:t>when infection resolves.</a:t>
            </a:r>
            <a:br/>
            <a:r>
              <a:t>Don't continue antiseptic</a:t>
            </a:r>
            <a:br/>
            <a:r>
              <a:t>indefinitely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I'm Proposing We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3C3C3C"/>
                </a:solidFill>
                <a:latin typeface="Calibri"/>
              </a:defRPr>
            </a:pPr>
            <a:r>
              <a:t>• Immediate — Wound Cleansing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Switch routine wound cleansing to normal saline or potable water for non-infected wounds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Reserve antiseptics (PHMB, HOCl) for wounds with suspected infection or biofilm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Stop routine chlorhexidine + cetrimide use on healing wounds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Adopt a cleansing decision framework based on wound status (adapted from IWII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3C3C3C"/>
                </a:solidFill>
                <a:latin typeface="Calibri"/>
              </a:defRPr>
            </a:pPr>
            <a:r>
              <a:t>• Bigger Picture — Where This Fits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This is step 1 of updating our wound care approach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Future: wound assessment, documentation, product selection, evidence-based dressings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Potential for nurse-led wound clinics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Aligns with Medicare wound management items and best-practice care</a:t>
            </a:r>
          </a:p>
          <a:p>
            <a:pPr>
              <a:spcAft>
                <a:spcPts val="64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• I'd love a GP champion to partner on wound care practice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303520"/>
            <a:ext cx="8229600" cy="1097280"/>
          </a:xfrm>
          <a:prstGeom prst="roundRect">
            <a:avLst/>
          </a:prstGeom>
          <a:solidFill>
            <a:srgbClr val="DC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64"/>
                </a:solidFill>
                <a:latin typeface="Calibri"/>
              </a:defRPr>
            </a:pPr>
            <a:r>
              <a:t>This isn't about criticism — it's about giving our patients the best chance to heal.</a:t>
            </a:r>
            <a:br/>
            <a:r>
              <a:t>Small change, big evidence, better outcomes.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Discussion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F0F0"/>
                </a:solidFill>
                <a:latin typeface="Calibri"/>
              </a:defRPr>
            </a:pPr>
            <a:r>
              <a:t>What are your thoughts?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8F0F0"/>
                </a:solidFill>
                <a:latin typeface="Calibri"/>
              </a:defRPr>
            </a:pPr>
            <a:r>
              <a:t>• Would anyone be interested in championing this with me?</a:t>
            </a:r>
          </a:p>
          <a:p>
            <a:pPr>
              <a:spcAft>
                <a:spcPts val="800"/>
              </a:spcAft>
              <a:defRPr sz="2000">
                <a:solidFill>
                  <a:srgbClr val="C8F0F0"/>
                </a:solidFill>
                <a:latin typeface="Calibri"/>
              </a:defRPr>
            </a:pPr>
            <a:r>
              <a:t>• Can we trial saline-first cleansing for 4 weeks?</a:t>
            </a:r>
          </a:p>
          <a:p>
            <a:pPr>
              <a:spcAft>
                <a:spcPts val="800"/>
              </a:spcAft>
              <a:defRPr sz="2000">
                <a:solidFill>
                  <a:srgbClr val="C8F0F0"/>
                </a:solidFill>
                <a:latin typeface="Calibri"/>
              </a:defRPr>
            </a:pPr>
            <a:r>
              <a:t>• Would a wound cleansing quick-reference card be useful?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C8C8"/>
                </a:solidFill>
                <a:latin typeface="Calibri"/>
              </a:defRPr>
            </a:pPr>
            <a:r>
              <a:t>Reference: IWII (2025) Therapeutic Wound &amp; Skin Cleansing:</a:t>
            </a:r>
            <a:br/>
            <a:r>
              <a:t>Clinical Evidence and Recommendations. Wounds International.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