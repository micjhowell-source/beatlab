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808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371600"/>
            <a:ext cx="100584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400" b="1">
                <a:solidFill>
                  <a:srgbClr val="FFFFFF"/>
                </a:solidFill>
                <a:latin typeface="Calibri"/>
              </a:defRPr>
            </a:pPr>
            <a:r>
              <a:t>Rethinking Wound Cleansing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274320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0">
                <a:solidFill>
                  <a:srgbClr val="C8F0F0"/>
                </a:solidFill>
                <a:latin typeface="Calibri"/>
              </a:defRPr>
            </a:pPr>
            <a:r>
              <a:t>Evidence-Based Practice Improvement Initiative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411480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FFFFFF"/>
                </a:solidFill>
                <a:latin typeface="Calibri"/>
              </a:defRPr>
            </a:pPr>
            <a:r>
              <a:t>Megan Howell RN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475488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B4DCDC"/>
                </a:solidFill>
                <a:latin typeface="Calibri"/>
              </a:defRPr>
            </a:pPr>
            <a:r>
              <a:t>Based on the IWII/Wounds International Consensus Document 2025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530352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B4DCDC"/>
                </a:solidFill>
                <a:latin typeface="Calibri"/>
              </a:defRPr>
            </a:pPr>
            <a:r>
              <a:t>Therapeutic Wound &amp; Skin Cleansing: Clinical Evidence and Recommendations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1695" cy="914400"/>
          </a:xfrm>
          <a:prstGeom prst="roundRect">
            <a:avLst/>
          </a:prstGeom>
          <a:solidFill>
            <a:srgbClr val="0080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2800" b="1">
                <a:solidFill>
                  <a:srgbClr val="FFFFFF"/>
                </a:solidFill>
                <a:latin typeface="Calibri"/>
              </a:defRPr>
            </a:pPr>
            <a:r>
              <a:t>Why Does This Matter?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280160"/>
            <a:ext cx="50292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80"/>
              </a:spcAft>
              <a:defRPr sz="1700" b="1">
                <a:solidFill>
                  <a:srgbClr val="3C3C3C"/>
                </a:solidFill>
                <a:latin typeface="Calibri"/>
              </a:defRPr>
            </a:pPr>
            <a:r>
              <a:t>• What are we currently doing?</a:t>
            </a:r>
          </a:p>
          <a:p>
            <a:pPr>
              <a:spcAft>
                <a:spcPts val="680"/>
              </a:spcAft>
              <a:defRPr sz="1700">
                <a:solidFill>
                  <a:srgbClr val="3C3C3C"/>
                </a:solidFill>
                <a:latin typeface="Calibri"/>
              </a:defRPr>
            </a:pPr>
            <a:r>
              <a:t>• Chlorhexidine 0.05% + Cetrimide 5% used to cleanse wounds routinely after dressing removal</a:t>
            </a:r>
          </a:p>
          <a:p>
            <a:pPr>
              <a:spcAft>
                <a:spcPts val="680"/>
              </a:spcAft>
              <a:defRPr sz="1700">
                <a:solidFill>
                  <a:srgbClr val="3C3C3C"/>
                </a:solidFill>
                <a:latin typeface="Calibri"/>
              </a:defRPr>
            </a:pPr>
            <a:r>
              <a:t>• Applied to all wound types regardless of infection status</a:t>
            </a:r>
          </a:p>
          <a:p>
            <a:pPr>
              <a:spcAft>
                <a:spcPts val="680"/>
              </a:spcAft>
              <a:defRPr sz="1700">
                <a:solidFill>
                  <a:srgbClr val="3C3C3C"/>
                </a:solidFill>
                <a:latin typeface="Calibri"/>
              </a:defRPr>
            </a:pPr>
            <a:r>
              <a:t>• This is a common practice — but is it best practice?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0" y="1371600"/>
            <a:ext cx="5029200" cy="2011680"/>
          </a:xfrm>
          <a:prstGeom prst="roundRect">
            <a:avLst/>
          </a:prstGeom>
          <a:solidFill>
            <a:srgbClr val="F0F0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1800" b="1">
                <a:solidFill>
                  <a:srgbClr val="006464"/>
                </a:solidFill>
                <a:latin typeface="Calibri"/>
              </a:defRPr>
            </a:pPr>
            <a:r>
              <a:t>🤔 Key Question</a:t>
            </a:r>
            <a:br/>
            <a:br/>
            <a:r>
              <a:t>Are we helping or hindering</a:t>
            </a:r>
            <a:br/>
            <a:r>
              <a:t>wound healing with routine</a:t>
            </a:r>
            <a:br/>
            <a:r>
              <a:t>antiseptic cleansing?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0" y="3657600"/>
            <a:ext cx="5029200" cy="2560320"/>
          </a:xfrm>
          <a:prstGeom prst="roundRect">
            <a:avLst/>
          </a:prstGeom>
          <a:solidFill>
            <a:srgbClr val="DC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1600" b="0">
                <a:solidFill>
                  <a:srgbClr val="006464"/>
                </a:solidFill>
                <a:latin typeface="Calibri"/>
              </a:defRPr>
            </a:pPr>
            <a:r>
              <a:t>The 2025 IWII Consensus</a:t>
            </a:r>
            <a:br/>
            <a:br/>
            <a:r>
              <a:t>✓ Systematic literature review</a:t>
            </a:r>
            <a:br/>
            <a:r>
              <a:t>✓ Delphi consensus process</a:t>
            </a:r>
            <a:br/>
            <a:r>
              <a:t>✓ 13 clinical recommendations</a:t>
            </a:r>
            <a:br/>
            <a:r>
              <a:t>✓ International expert panel</a:t>
            </a:r>
            <a:br/>
            <a:r>
              <a:t>✓ Strongest wound cleansing</a:t>
            </a:r>
            <a:br/>
            <a:r>
              <a:t>   guidance to date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1695" cy="914400"/>
          </a:xfrm>
          <a:prstGeom prst="roundRect">
            <a:avLst/>
          </a:prstGeom>
          <a:solidFill>
            <a:srgbClr val="C832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2800" b="1">
                <a:solidFill>
                  <a:srgbClr val="FFFFFF"/>
                </a:solidFill>
                <a:latin typeface="Calibri"/>
              </a:defRPr>
            </a:pPr>
            <a:r>
              <a:t>The Problem: Chlorhexidine + Cetrimide on Wounds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457200" y="1188720"/>
            <a:ext cx="3474720" cy="548640"/>
          </a:xfrm>
          <a:prstGeom prst="roundRect">
            <a:avLst/>
          </a:prstGeom>
          <a:solidFill>
            <a:srgbClr val="0064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1800" b="1">
                <a:solidFill>
                  <a:srgbClr val="FFFFFF"/>
                </a:solidFill>
                <a:latin typeface="Calibri"/>
              </a:defRPr>
            </a:pPr>
            <a:r>
              <a:t>Cytotoxicity Evidence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920240"/>
            <a:ext cx="347472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60"/>
              </a:spcAft>
              <a:defRPr sz="1400">
                <a:solidFill>
                  <a:srgbClr val="3C3C3C"/>
                </a:solidFill>
                <a:latin typeface="Calibri"/>
              </a:defRPr>
            </a:pPr>
            <a:r>
              <a:t>• Fibroblasts exposed to 0.05% CHX for 15 mins → non-viable within 24 hours</a:t>
            </a:r>
          </a:p>
          <a:p>
            <a:pPr>
              <a:spcAft>
                <a:spcPts val="560"/>
              </a:spcAft>
              <a:defRPr sz="1400">
                <a:solidFill>
                  <a:srgbClr val="3C3C3C"/>
                </a:solidFill>
                <a:latin typeface="Calibri"/>
              </a:defRPr>
            </a:pPr>
            <a:r>
              <a:t>• Even at 0.002% CHX suppresses cell division almost completely</a:t>
            </a:r>
          </a:p>
          <a:p>
            <a:pPr>
              <a:spcAft>
                <a:spcPts val="560"/>
              </a:spcAft>
              <a:defRPr sz="1400">
                <a:solidFill>
                  <a:srgbClr val="3C3C3C"/>
                </a:solidFill>
                <a:latin typeface="Calibri"/>
              </a:defRPr>
            </a:pPr>
            <a:r>
              <a:t>• Cetrimide adds further cytotoxic burden — a surfactant that disrupts cell membranes</a:t>
            </a:r>
          </a:p>
          <a:p>
            <a:pPr>
              <a:spcAft>
                <a:spcPts val="560"/>
              </a:spcAft>
              <a:defRPr sz="1400">
                <a:solidFill>
                  <a:srgbClr val="3C3C3C"/>
                </a:solidFill>
                <a:latin typeface="Calibri"/>
              </a:defRPr>
            </a:pPr>
            <a:r>
              <a:t>• Dose- and time-dependent damage to the very cells that heal wounds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297680" y="1188720"/>
            <a:ext cx="3474720" cy="548640"/>
          </a:xfrm>
          <a:prstGeom prst="roundRect">
            <a:avLst/>
          </a:prstGeom>
          <a:solidFill>
            <a:srgbClr val="C832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1800" b="1">
                <a:solidFill>
                  <a:srgbClr val="FFFFFF"/>
                </a:solidFill>
                <a:latin typeface="Calibri"/>
              </a:defRPr>
            </a:pPr>
            <a:r>
              <a:t>What Gets Damaged?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297680" y="1920240"/>
            <a:ext cx="347472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60"/>
              </a:spcAft>
              <a:defRPr sz="1400">
                <a:solidFill>
                  <a:srgbClr val="3C3C3C"/>
                </a:solidFill>
                <a:latin typeface="Calibri"/>
              </a:defRPr>
            </a:pPr>
            <a:r>
              <a:t>• Fibroblasts — produce collagen and extracellular matrix for wound repair</a:t>
            </a:r>
          </a:p>
          <a:p>
            <a:pPr>
              <a:spcAft>
                <a:spcPts val="560"/>
              </a:spcAft>
              <a:defRPr sz="1400">
                <a:solidFill>
                  <a:srgbClr val="3C3C3C"/>
                </a:solidFill>
                <a:latin typeface="Calibri"/>
              </a:defRPr>
            </a:pPr>
            <a:r>
              <a:t>• Keratinocytes — drive re-epithelialisation and wound closure</a:t>
            </a:r>
          </a:p>
          <a:p>
            <a:pPr>
              <a:spcAft>
                <a:spcPts val="560"/>
              </a:spcAft>
              <a:defRPr sz="1400">
                <a:solidFill>
                  <a:srgbClr val="3C3C3C"/>
                </a:solidFill>
                <a:latin typeface="Calibri"/>
              </a:defRPr>
            </a:pPr>
            <a:r>
              <a:t>• Growth factors — disrupted signalling cascades</a:t>
            </a:r>
          </a:p>
          <a:p>
            <a:pPr>
              <a:spcAft>
                <a:spcPts val="560"/>
              </a:spcAft>
              <a:defRPr sz="1400">
                <a:solidFill>
                  <a:srgbClr val="3C3C3C"/>
                </a:solidFill>
                <a:latin typeface="Calibri"/>
              </a:defRPr>
            </a:pPr>
            <a:r>
              <a:t>• Granulation tissue — the foundation of healing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138160" y="1188720"/>
            <a:ext cx="3474720" cy="548640"/>
          </a:xfrm>
          <a:prstGeom prst="roundRect">
            <a:avLst/>
          </a:prstGeom>
          <a:solidFill>
            <a:srgbClr val="DCA0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1800" b="1">
                <a:solidFill>
                  <a:srgbClr val="FFFFFF"/>
                </a:solidFill>
                <a:latin typeface="Calibri"/>
              </a:defRPr>
            </a:pPr>
            <a:r>
              <a:t>Clinical Impact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138160" y="1920240"/>
            <a:ext cx="347472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60"/>
              </a:spcAft>
              <a:defRPr sz="1400">
                <a:solidFill>
                  <a:srgbClr val="3C3C3C"/>
                </a:solidFill>
                <a:latin typeface="Calibri"/>
              </a:defRPr>
            </a:pPr>
            <a:r>
              <a:t>• Delayed wound healing — more visits, more costs, more patient burden</a:t>
            </a:r>
          </a:p>
          <a:p>
            <a:pPr>
              <a:spcAft>
                <a:spcPts val="560"/>
              </a:spcAft>
              <a:defRPr sz="1400">
                <a:solidFill>
                  <a:srgbClr val="3C3C3C"/>
                </a:solidFill>
                <a:latin typeface="Calibri"/>
              </a:defRPr>
            </a:pPr>
            <a:r>
              <a:t>• No evidence of benefit for routine use on non-infected wounds</a:t>
            </a:r>
          </a:p>
          <a:p>
            <a:pPr>
              <a:spcAft>
                <a:spcPts val="560"/>
              </a:spcAft>
              <a:defRPr sz="1400">
                <a:solidFill>
                  <a:srgbClr val="3C3C3C"/>
                </a:solidFill>
                <a:latin typeface="Calibri"/>
              </a:defRPr>
            </a:pPr>
            <a:r>
              <a:t>• CHX group showed more days to healing vs saline in comparative studies</a:t>
            </a:r>
          </a:p>
          <a:p>
            <a:pPr>
              <a:spcAft>
                <a:spcPts val="560"/>
              </a:spcAft>
              <a:defRPr sz="1400">
                <a:solidFill>
                  <a:srgbClr val="3C3C3C"/>
                </a:solidFill>
                <a:latin typeface="Calibri"/>
              </a:defRPr>
            </a:pPr>
            <a:r>
              <a:t>• We may be undoing our good wound management with every dressing change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371600" y="5303520"/>
            <a:ext cx="9144000" cy="1097280"/>
          </a:xfrm>
          <a:prstGeom prst="roundRect">
            <a:avLst/>
          </a:prstGeom>
          <a:solidFill>
            <a:srgbClr val="FFF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1600" b="0">
                <a:solidFill>
                  <a:srgbClr val="C83232"/>
                </a:solidFill>
                <a:latin typeface="Calibri"/>
              </a:defRPr>
            </a:pPr>
            <a:r>
              <a:t>"Antiseptics should not be used routinely on wounds that are healing normally"</a:t>
            </a:r>
            <a:br/>
            <a:r>
              <a:t>— Consistent finding across wound care literature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1695" cy="914400"/>
          </a:xfrm>
          <a:prstGeom prst="roundRect">
            <a:avLst/>
          </a:prstGeom>
          <a:solidFill>
            <a:srgbClr val="0080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2800" b="1">
                <a:solidFill>
                  <a:srgbClr val="FFFFFF"/>
                </a:solidFill>
                <a:latin typeface="Calibri"/>
              </a:defRPr>
            </a:pPr>
            <a:r>
              <a:t>What Should We Use? — IWII 2025 Guidance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457200" y="1188720"/>
            <a:ext cx="3474720" cy="640080"/>
          </a:xfrm>
          <a:prstGeom prst="roundRect">
            <a:avLst/>
          </a:prstGeom>
          <a:solidFill>
            <a:srgbClr val="28A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1600" b="1">
                <a:solidFill>
                  <a:srgbClr val="FFFFFF"/>
                </a:solidFill>
                <a:latin typeface="Calibri"/>
              </a:defRPr>
            </a:pPr>
            <a:r>
              <a:t>✅  Clean / Healing Wounds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2011680"/>
            <a:ext cx="347472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60"/>
              </a:spcAft>
              <a:defRPr sz="1400">
                <a:solidFill>
                  <a:srgbClr val="3C3C3C"/>
                </a:solidFill>
                <a:latin typeface="Calibri"/>
              </a:defRPr>
            </a:pPr>
            <a:r>
              <a:t>• Normal saline (0.9% NaCl)</a:t>
            </a:r>
          </a:p>
          <a:p>
            <a:pPr>
              <a:spcAft>
                <a:spcPts val="560"/>
              </a:spcAft>
              <a:defRPr sz="1400">
                <a:solidFill>
                  <a:srgbClr val="3C3C3C"/>
                </a:solidFill>
                <a:latin typeface="Calibri"/>
              </a:defRPr>
            </a:pPr>
            <a:r>
              <a:t>• Potable/tap water</a:t>
            </a:r>
          </a:p>
          <a:p>
            <a:pPr>
              <a:spcAft>
                <a:spcPts val="560"/>
              </a:spcAft>
              <a:defRPr sz="1400">
                <a:solidFill>
                  <a:srgbClr val="3C3C3C"/>
                </a:solidFill>
                <a:latin typeface="Calibri"/>
              </a:defRPr>
            </a:pPr>
            <a:r>
              <a:t>• Sterile water</a:t>
            </a:r>
          </a:p>
          <a:p>
            <a:pPr>
              <a:spcAft>
                <a:spcPts val="560"/>
              </a:spcAft>
              <a:defRPr sz="1400">
                <a:solidFill>
                  <a:srgbClr val="3C3C3C"/>
                </a:solidFill>
                <a:latin typeface="Calibri"/>
              </a:defRPr>
            </a:pPr>
            <a:r>
              <a:t>• </a:t>
            </a:r>
          </a:p>
          <a:p>
            <a:pPr>
              <a:spcAft>
                <a:spcPts val="560"/>
              </a:spcAft>
              <a:defRPr sz="1400">
                <a:solidFill>
                  <a:srgbClr val="3C3C3C"/>
                </a:solidFill>
                <a:latin typeface="Calibri"/>
              </a:defRPr>
            </a:pPr>
            <a:r>
              <a:t>• Non-cytotoxic, non-allergenic</a:t>
            </a:r>
          </a:p>
          <a:p>
            <a:pPr>
              <a:spcAft>
                <a:spcPts val="560"/>
              </a:spcAft>
              <a:defRPr sz="1400">
                <a:solidFill>
                  <a:srgbClr val="3C3C3C"/>
                </a:solidFill>
                <a:latin typeface="Calibri"/>
              </a:defRPr>
            </a:pPr>
            <a:r>
              <a:t>• Supports the healing environment</a:t>
            </a:r>
          </a:p>
          <a:p>
            <a:pPr>
              <a:spcAft>
                <a:spcPts val="560"/>
              </a:spcAft>
              <a:defRPr sz="1400">
                <a:solidFill>
                  <a:srgbClr val="3C3C3C"/>
                </a:solidFill>
                <a:latin typeface="Calibri"/>
              </a:defRPr>
            </a:pPr>
            <a:r>
              <a:t>• Maintains optimal wound pH (4–5.5)</a:t>
            </a:r>
          </a:p>
          <a:p>
            <a:pPr>
              <a:spcAft>
                <a:spcPts val="560"/>
              </a:spcAft>
              <a:defRPr sz="1400">
                <a:solidFill>
                  <a:srgbClr val="3C3C3C"/>
                </a:solidFill>
                <a:latin typeface="Calibri"/>
              </a:defRPr>
            </a:pPr>
            <a:r>
              <a:t>• This covers MOST of our wounds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297680" y="1188720"/>
            <a:ext cx="3474720" cy="640080"/>
          </a:xfrm>
          <a:prstGeom prst="roundRect">
            <a:avLst/>
          </a:prstGeom>
          <a:solidFill>
            <a:srgbClr val="DCA0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1600" b="1">
                <a:solidFill>
                  <a:srgbClr val="FFFFFF"/>
                </a:solidFill>
                <a:latin typeface="Calibri"/>
              </a:defRPr>
            </a:pPr>
            <a:r>
              <a:t>⚠️  Infection Risk / Biofilm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297680" y="2011680"/>
            <a:ext cx="347472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60"/>
              </a:spcAft>
              <a:defRPr sz="1400">
                <a:solidFill>
                  <a:srgbClr val="3C3C3C"/>
                </a:solidFill>
                <a:latin typeface="Calibri"/>
              </a:defRPr>
            </a:pPr>
            <a:r>
              <a:t>• PHMB (polyhexanide)</a:t>
            </a:r>
          </a:p>
          <a:p>
            <a:pPr>
              <a:spcAft>
                <a:spcPts val="560"/>
              </a:spcAft>
              <a:defRPr sz="1400">
                <a:solidFill>
                  <a:srgbClr val="3C3C3C"/>
                </a:solidFill>
                <a:latin typeface="Calibri"/>
              </a:defRPr>
            </a:pPr>
            <a:r>
              <a:t>• Hypochlorous acid (HOCl)</a:t>
            </a:r>
          </a:p>
          <a:p>
            <a:pPr>
              <a:spcAft>
                <a:spcPts val="560"/>
              </a:spcAft>
              <a:defRPr sz="1400">
                <a:solidFill>
                  <a:srgbClr val="3C3C3C"/>
                </a:solidFill>
                <a:latin typeface="Calibri"/>
              </a:defRPr>
            </a:pPr>
            <a:r>
              <a:t>• Octenidine</a:t>
            </a:r>
          </a:p>
          <a:p>
            <a:pPr>
              <a:spcAft>
                <a:spcPts val="560"/>
              </a:spcAft>
              <a:defRPr sz="1400">
                <a:solidFill>
                  <a:srgbClr val="3C3C3C"/>
                </a:solidFill>
                <a:latin typeface="Calibri"/>
              </a:defRPr>
            </a:pPr>
            <a:r>
              <a:t>• </a:t>
            </a:r>
          </a:p>
          <a:p>
            <a:pPr>
              <a:spcAft>
                <a:spcPts val="560"/>
              </a:spcAft>
              <a:defRPr sz="1400">
                <a:solidFill>
                  <a:srgbClr val="3C3C3C"/>
                </a:solidFill>
                <a:latin typeface="Calibri"/>
              </a:defRPr>
            </a:pPr>
            <a:r>
              <a:t>• Modern antiseptics with evidence for safety + efficacy</a:t>
            </a:r>
          </a:p>
          <a:p>
            <a:pPr>
              <a:spcAft>
                <a:spcPts val="560"/>
              </a:spcAft>
              <a:defRPr sz="1400">
                <a:solidFill>
                  <a:srgbClr val="3C3C3C"/>
                </a:solidFill>
                <a:latin typeface="Calibri"/>
              </a:defRPr>
            </a:pPr>
            <a:r>
              <a:t>• Targeted biofilm disruption</a:t>
            </a:r>
          </a:p>
          <a:p>
            <a:pPr>
              <a:spcAft>
                <a:spcPts val="560"/>
              </a:spcAft>
              <a:defRPr sz="1400">
                <a:solidFill>
                  <a:srgbClr val="3C3C3C"/>
                </a:solidFill>
                <a:latin typeface="Calibri"/>
              </a:defRPr>
            </a:pPr>
            <a:r>
              <a:t>• Lower cytotoxicity than CHX</a:t>
            </a:r>
          </a:p>
          <a:p>
            <a:pPr>
              <a:spcAft>
                <a:spcPts val="560"/>
              </a:spcAft>
              <a:defRPr sz="1400">
                <a:solidFill>
                  <a:srgbClr val="3C3C3C"/>
                </a:solidFill>
                <a:latin typeface="Calibri"/>
              </a:defRPr>
            </a:pPr>
            <a:r>
              <a:t>• Use purposefully, not prophylactically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138160" y="1188720"/>
            <a:ext cx="3474720" cy="640080"/>
          </a:xfrm>
          <a:prstGeom prst="roundRect">
            <a:avLst/>
          </a:prstGeom>
          <a:solidFill>
            <a:srgbClr val="C832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1600" b="1">
                <a:solidFill>
                  <a:srgbClr val="FFFFFF"/>
                </a:solidFill>
                <a:latin typeface="Calibri"/>
              </a:defRPr>
            </a:pPr>
            <a:r>
              <a:t>🛑  Avoid for Routine Use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138160" y="2011680"/>
            <a:ext cx="347472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60"/>
              </a:spcAft>
              <a:defRPr sz="1400">
                <a:solidFill>
                  <a:srgbClr val="3C3C3C"/>
                </a:solidFill>
                <a:latin typeface="Calibri"/>
              </a:defRPr>
            </a:pPr>
            <a:r>
              <a:t>• Chlorhexidine</a:t>
            </a:r>
          </a:p>
          <a:p>
            <a:pPr>
              <a:spcAft>
                <a:spcPts val="560"/>
              </a:spcAft>
              <a:defRPr sz="1400">
                <a:solidFill>
                  <a:srgbClr val="3C3C3C"/>
                </a:solidFill>
                <a:latin typeface="Calibri"/>
              </a:defRPr>
            </a:pPr>
            <a:r>
              <a:t>• Cetrimide</a:t>
            </a:r>
          </a:p>
          <a:p>
            <a:pPr>
              <a:spcAft>
                <a:spcPts val="560"/>
              </a:spcAft>
              <a:defRPr sz="1400">
                <a:solidFill>
                  <a:srgbClr val="3C3C3C"/>
                </a:solidFill>
                <a:latin typeface="Calibri"/>
              </a:defRPr>
            </a:pPr>
            <a:r>
              <a:t>• Hydrogen peroxide</a:t>
            </a:r>
          </a:p>
          <a:p>
            <a:pPr>
              <a:spcAft>
                <a:spcPts val="560"/>
              </a:spcAft>
              <a:defRPr sz="1400">
                <a:solidFill>
                  <a:srgbClr val="3C3C3C"/>
                </a:solidFill>
                <a:latin typeface="Calibri"/>
              </a:defRPr>
            </a:pPr>
            <a:r>
              <a:t>• </a:t>
            </a:r>
          </a:p>
          <a:p>
            <a:pPr>
              <a:spcAft>
                <a:spcPts val="560"/>
              </a:spcAft>
              <a:defRPr sz="1400">
                <a:solidFill>
                  <a:srgbClr val="3C3C3C"/>
                </a:solidFill>
                <a:latin typeface="Calibri"/>
              </a:defRPr>
            </a:pPr>
            <a:r>
              <a:t>• Cytotoxic to healing cells</a:t>
            </a:r>
          </a:p>
          <a:p>
            <a:pPr>
              <a:spcAft>
                <a:spcPts val="560"/>
              </a:spcAft>
              <a:defRPr sz="1400">
                <a:solidFill>
                  <a:srgbClr val="3C3C3C"/>
                </a:solidFill>
                <a:latin typeface="Calibri"/>
              </a:defRPr>
            </a:pPr>
            <a:r>
              <a:t>• No evidence of benefit in clean wounds</a:t>
            </a:r>
          </a:p>
          <a:p>
            <a:pPr>
              <a:spcAft>
                <a:spcPts val="560"/>
              </a:spcAft>
              <a:defRPr sz="1400">
                <a:solidFill>
                  <a:srgbClr val="3C3C3C"/>
                </a:solidFill>
                <a:latin typeface="Calibri"/>
              </a:defRPr>
            </a:pPr>
            <a:r>
              <a:t>• Disrupts wound pH</a:t>
            </a:r>
          </a:p>
          <a:p>
            <a:pPr>
              <a:spcAft>
                <a:spcPts val="560"/>
              </a:spcAft>
              <a:defRPr sz="1400">
                <a:solidFill>
                  <a:srgbClr val="3C3C3C"/>
                </a:solidFill>
                <a:latin typeface="Calibri"/>
              </a:defRPr>
            </a:pPr>
            <a:r>
              <a:t>• Damages granulation tissue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371600" y="5303520"/>
            <a:ext cx="9144000" cy="1097280"/>
          </a:xfrm>
          <a:prstGeom prst="roundRect">
            <a:avLst/>
          </a:prstGeom>
          <a:solidFill>
            <a:srgbClr val="DC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1600" b="1">
                <a:solidFill>
                  <a:srgbClr val="006464"/>
                </a:solidFill>
                <a:latin typeface="Calibri"/>
              </a:defRPr>
            </a:pPr>
            <a:r>
              <a:t>IWII 2025: "Solution selection should align with the wound's infection status"</a:t>
            </a:r>
            <a:br/>
            <a:r>
              <a:t>Clean wounds → inert solutions  |  Infection/biofilm → targeted modern antiseptics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1695" cy="914400"/>
          </a:xfrm>
          <a:prstGeom prst="roundRect">
            <a:avLst/>
          </a:prstGeom>
          <a:solidFill>
            <a:srgbClr val="0080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2800" b="1">
                <a:solidFill>
                  <a:srgbClr val="FFFFFF"/>
                </a:solidFill>
                <a:latin typeface="Calibri"/>
              </a:defRPr>
            </a:pPr>
            <a:r>
              <a:t>Proposed Wound Cleansing Decision Framework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0584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787878"/>
                </a:solidFill>
                <a:latin typeface="Calibri"/>
              </a:defRPr>
            </a:pPr>
            <a:r>
              <a:t>Adapted from the IWII 2025 Wound Cleansing Continuum (p.32)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645920"/>
            <a:ext cx="2560320" cy="1371600"/>
          </a:xfrm>
          <a:prstGeom prst="roundRect">
            <a:avLst/>
          </a:prstGeom>
          <a:solidFill>
            <a:srgbClr val="0080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1300" b="1">
                <a:solidFill>
                  <a:srgbClr val="FFFFFF"/>
                </a:solidFill>
                <a:latin typeface="Calibri"/>
              </a:defRPr>
            </a:pPr>
            <a:r>
              <a:t>1. ASSESS</a:t>
            </a:r>
            <a:br/>
            <a:br/>
            <a:r>
              <a:t>Wound bed</a:t>
            </a:r>
            <a:br/>
            <a:r>
              <a:t>Wound edges</a:t>
            </a:r>
            <a:br/>
            <a:r>
              <a:t>Periwound skin</a:t>
            </a:r>
            <a:br/>
            <a:r>
              <a:t>Signs of infection?</a:t>
            </a:r>
          </a:p>
        </p:txBody>
      </p:sp>
      <p:sp>
        <p:nvSpPr>
          <p:cNvPr id="5" name="Oval 4"/>
          <p:cNvSpPr/>
          <p:nvPr/>
        </p:nvSpPr>
        <p:spPr>
          <a:xfrm>
            <a:off x="3200400" y="2011680"/>
            <a:ext cx="548640" cy="54864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2400" b="1">
                <a:solidFill>
                  <a:srgbClr val="008080"/>
                </a:solidFill>
                <a:latin typeface="Calibri"/>
              </a:defRPr>
            </a:pPr>
            <a:r>
              <a:t>→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931920" y="1645920"/>
            <a:ext cx="2560320" cy="1371600"/>
          </a:xfrm>
          <a:prstGeom prst="roundRect">
            <a:avLst/>
          </a:prstGeom>
          <a:solidFill>
            <a:srgbClr val="DCA0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1300" b="1">
                <a:solidFill>
                  <a:srgbClr val="FFFFFF"/>
                </a:solidFill>
                <a:latin typeface="Calibri"/>
              </a:defRPr>
            </a:pPr>
            <a:r>
              <a:t>2. DECIDE</a:t>
            </a:r>
            <a:br/>
            <a:br/>
            <a:r>
              <a:t>Bacterial balance?</a:t>
            </a:r>
            <a:br/>
            <a:r>
              <a:t>Biofilm suspected?</a:t>
            </a:r>
            <a:br/>
            <a:r>
              <a:t>Critically colonised?</a:t>
            </a:r>
            <a:br/>
            <a:r>
              <a:t>Infected?</a:t>
            </a:r>
          </a:p>
        </p:txBody>
      </p:sp>
      <p:sp>
        <p:nvSpPr>
          <p:cNvPr id="7" name="Oval 6"/>
          <p:cNvSpPr/>
          <p:nvPr/>
        </p:nvSpPr>
        <p:spPr>
          <a:xfrm>
            <a:off x="6675120" y="2011680"/>
            <a:ext cx="548640" cy="54864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2400" b="1">
                <a:solidFill>
                  <a:srgbClr val="008080"/>
                </a:solidFill>
                <a:latin typeface="Calibri"/>
              </a:defRPr>
            </a:pPr>
            <a:r>
              <a:t>→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406640" y="1645920"/>
            <a:ext cx="2560320" cy="1371600"/>
          </a:xfrm>
          <a:prstGeom prst="roundRect">
            <a:avLst/>
          </a:prstGeom>
          <a:solidFill>
            <a:srgbClr val="28A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1300" b="1">
                <a:solidFill>
                  <a:srgbClr val="FFFFFF"/>
                </a:solidFill>
                <a:latin typeface="Calibri"/>
              </a:defRPr>
            </a:pPr>
            <a:r>
              <a:t>3. SELECT</a:t>
            </a:r>
            <a:br/>
            <a:br/>
            <a:r>
              <a:t>Solution</a:t>
            </a:r>
            <a:br/>
            <a:r>
              <a:t>Technique</a:t>
            </a:r>
            <a:br/>
            <a:r>
              <a:t>Pressure</a:t>
            </a:r>
            <a:br/>
            <a:r>
              <a:t>Frequency</a:t>
            </a:r>
          </a:p>
        </p:txBody>
      </p:sp>
      <p:sp>
        <p:nvSpPr>
          <p:cNvPr id="9" name="Oval 8"/>
          <p:cNvSpPr/>
          <p:nvPr/>
        </p:nvSpPr>
        <p:spPr>
          <a:xfrm>
            <a:off x="10149840" y="2011680"/>
            <a:ext cx="548640" cy="54864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2400" b="1">
                <a:solidFill>
                  <a:srgbClr val="008080"/>
                </a:solidFill>
                <a:latin typeface="Calibri"/>
              </a:defRPr>
            </a:pPr>
            <a:r>
              <a:t>→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0881360" y="1645920"/>
            <a:ext cx="1097280" cy="1371600"/>
          </a:xfrm>
          <a:prstGeom prst="roundRect">
            <a:avLst/>
          </a:prstGeom>
          <a:solidFill>
            <a:srgbClr val="0064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1200" b="1">
                <a:solidFill>
                  <a:srgbClr val="FFFFFF"/>
                </a:solidFill>
                <a:latin typeface="Calibri"/>
              </a:defRPr>
            </a:pPr>
            <a:r>
              <a:t>4.</a:t>
            </a:r>
            <a:br/>
            <a:r>
              <a:t>EVALUATE</a:t>
            </a:r>
            <a:br/>
            <a:br/>
            <a:r>
              <a:t>Is it</a:t>
            </a:r>
            <a:br/>
            <a:r>
              <a:t>working?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3474720"/>
            <a:ext cx="3657600" cy="2560320"/>
          </a:xfrm>
          <a:prstGeom prst="roundRect">
            <a:avLst/>
          </a:prstGeom>
          <a:solidFill>
            <a:srgbClr val="DC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1300" b="0">
                <a:solidFill>
                  <a:srgbClr val="006464"/>
                </a:solidFill>
                <a:latin typeface="Calibri"/>
              </a:defRPr>
            </a:pPr>
            <a:r>
              <a:t>Bacterial Balance</a:t>
            </a:r>
            <a:br/>
            <a:r>
              <a:t>(Most of our wounds)</a:t>
            </a:r>
            <a:br/>
            <a:br/>
            <a:r>
              <a:t>→ Normal saline or potable water</a:t>
            </a:r>
            <a:br/>
            <a:r>
              <a:t>→ Gentle irrigation</a:t>
            </a:r>
            <a:br/>
            <a:r>
              <a:t>→ Cleanse wound bed, edges</a:t>
            </a:r>
            <a:br/>
            <a:r>
              <a:t>   &amp; periwound</a:t>
            </a:r>
            <a:br/>
            <a:r>
              <a:t>→ Reassess at each visit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89120" y="3474720"/>
            <a:ext cx="3657600" cy="2560320"/>
          </a:xfrm>
          <a:prstGeom prst="roundRect">
            <a:avLst/>
          </a:prstGeom>
          <a:solidFill>
            <a:srgbClr val="FFF8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1300" b="0">
                <a:solidFill>
                  <a:srgbClr val="3C3C3C"/>
                </a:solidFill>
                <a:latin typeface="Calibri"/>
              </a:defRPr>
            </a:pPr>
            <a:r>
              <a:t>Biofilm Suspected / At Risk</a:t>
            </a:r>
            <a:br/>
            <a:br/>
            <a:r>
              <a:t>→ Consider surfactant-based or</a:t>
            </a:r>
            <a:br/>
            <a:r>
              <a:t>   antimicrobial cleanser</a:t>
            </a:r>
            <a:br/>
            <a:r>
              <a:t>→ PHMB, HOCl or Octenidine</a:t>
            </a:r>
            <a:br/>
            <a:r>
              <a:t>→ Active mechanical cleansing</a:t>
            </a:r>
            <a:br/>
            <a:r>
              <a:t>→ Treat the cause, not routine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321040" y="3474720"/>
            <a:ext cx="3657600" cy="2560320"/>
          </a:xfrm>
          <a:prstGeom prst="roundRect">
            <a:avLst/>
          </a:prstGeom>
          <a:solidFill>
            <a:srgbClr val="FFEB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1300" b="0">
                <a:solidFill>
                  <a:srgbClr val="C83232"/>
                </a:solidFill>
                <a:latin typeface="Calibri"/>
              </a:defRPr>
            </a:pPr>
            <a:r>
              <a:t>Infected Wound</a:t>
            </a:r>
            <a:br/>
            <a:br/>
            <a:r>
              <a:t>→ Antimicrobial cleanser +</a:t>
            </a:r>
            <a:br/>
            <a:r>
              <a:t>   systemic treatment as needed</a:t>
            </a:r>
            <a:br/>
            <a:r>
              <a:t>→ Discuss with GP</a:t>
            </a:r>
            <a:br/>
            <a:r>
              <a:t>→ Swab if clinically indicated</a:t>
            </a:r>
            <a:br/>
            <a:r>
              <a:t>→ Short-term targeted antiseptic</a:t>
            </a:r>
            <a:br/>
            <a:r>
              <a:t>→ Step down when resolving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1695" cy="914400"/>
          </a:xfrm>
          <a:prstGeom prst="roundRect">
            <a:avLst/>
          </a:prstGeom>
          <a:solidFill>
            <a:srgbClr val="0080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2800" b="1">
                <a:solidFill>
                  <a:srgbClr val="FFFFFF"/>
                </a:solidFill>
                <a:latin typeface="Calibri"/>
              </a:defRPr>
            </a:pPr>
            <a:r>
              <a:t>What I'm Proposing We Consider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188720"/>
            <a:ext cx="50292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40"/>
              </a:spcAft>
              <a:defRPr sz="1600" b="1">
                <a:solidFill>
                  <a:srgbClr val="3C3C3C"/>
                </a:solidFill>
                <a:latin typeface="Calibri"/>
              </a:defRPr>
            </a:pPr>
            <a:r>
              <a:t>• Immediate — Wound Cleansing</a:t>
            </a:r>
          </a:p>
          <a:p>
            <a:pPr>
              <a:spcAft>
                <a:spcPts val="640"/>
              </a:spcAft>
              <a:defRPr sz="1600">
                <a:solidFill>
                  <a:srgbClr val="3C3C3C"/>
                </a:solidFill>
                <a:latin typeface="Calibri"/>
              </a:defRPr>
            </a:pPr>
            <a:r>
              <a:t>• </a:t>
            </a:r>
          </a:p>
          <a:p>
            <a:pPr>
              <a:spcAft>
                <a:spcPts val="640"/>
              </a:spcAft>
              <a:defRPr sz="1600">
                <a:solidFill>
                  <a:srgbClr val="3C3C3C"/>
                </a:solidFill>
                <a:latin typeface="Calibri"/>
              </a:defRPr>
            </a:pPr>
            <a:r>
              <a:t>• Switch routine wound cleansing to normal saline or potable water for non-infected wounds</a:t>
            </a:r>
          </a:p>
          <a:p>
            <a:pPr>
              <a:spcAft>
                <a:spcPts val="640"/>
              </a:spcAft>
              <a:defRPr sz="1600">
                <a:solidFill>
                  <a:srgbClr val="3C3C3C"/>
                </a:solidFill>
                <a:latin typeface="Calibri"/>
              </a:defRPr>
            </a:pPr>
            <a:r>
              <a:t>• Reserve antiseptics (PHMB, HOCl) for wounds with suspected infection or biofilm</a:t>
            </a:r>
          </a:p>
          <a:p>
            <a:pPr>
              <a:spcAft>
                <a:spcPts val="640"/>
              </a:spcAft>
              <a:defRPr sz="1600">
                <a:solidFill>
                  <a:srgbClr val="3C3C3C"/>
                </a:solidFill>
                <a:latin typeface="Calibri"/>
              </a:defRPr>
            </a:pPr>
            <a:r>
              <a:t>• Stop routine chlorhexidine + cetrimide use on healing wounds</a:t>
            </a:r>
          </a:p>
          <a:p>
            <a:pPr>
              <a:spcAft>
                <a:spcPts val="640"/>
              </a:spcAft>
              <a:defRPr sz="1600">
                <a:solidFill>
                  <a:srgbClr val="3C3C3C"/>
                </a:solidFill>
                <a:latin typeface="Calibri"/>
              </a:defRPr>
            </a:pPr>
            <a:r>
              <a:t>• Adopt a cleansing decision framework based on wound status (adapted from IWII 2025)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0" y="1188720"/>
            <a:ext cx="50292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40"/>
              </a:spcAft>
              <a:defRPr sz="1600" b="1">
                <a:solidFill>
                  <a:srgbClr val="3C3C3C"/>
                </a:solidFill>
                <a:latin typeface="Calibri"/>
              </a:defRPr>
            </a:pPr>
            <a:r>
              <a:t>• Bigger Picture — Where This Fits</a:t>
            </a:r>
          </a:p>
          <a:p>
            <a:pPr>
              <a:spcAft>
                <a:spcPts val="640"/>
              </a:spcAft>
              <a:defRPr sz="1600">
                <a:solidFill>
                  <a:srgbClr val="3C3C3C"/>
                </a:solidFill>
                <a:latin typeface="Calibri"/>
              </a:defRPr>
            </a:pPr>
            <a:r>
              <a:t>• </a:t>
            </a:r>
          </a:p>
          <a:p>
            <a:pPr>
              <a:spcAft>
                <a:spcPts val="640"/>
              </a:spcAft>
              <a:defRPr sz="1600">
                <a:solidFill>
                  <a:srgbClr val="3C3C3C"/>
                </a:solidFill>
                <a:latin typeface="Calibri"/>
              </a:defRPr>
            </a:pPr>
            <a:r>
              <a:t>• This is step 1 of updating our wound care approach</a:t>
            </a:r>
          </a:p>
          <a:p>
            <a:pPr>
              <a:spcAft>
                <a:spcPts val="640"/>
              </a:spcAft>
              <a:defRPr sz="1600">
                <a:solidFill>
                  <a:srgbClr val="3C3C3C"/>
                </a:solidFill>
                <a:latin typeface="Calibri"/>
              </a:defRPr>
            </a:pPr>
            <a:r>
              <a:t>• Future areas: wound assessment &amp; documentation, product selection, evidence-based dressing choices</a:t>
            </a:r>
          </a:p>
          <a:p>
            <a:pPr>
              <a:spcAft>
                <a:spcPts val="640"/>
              </a:spcAft>
              <a:defRPr sz="1600">
                <a:solidFill>
                  <a:srgbClr val="3C3C3C"/>
                </a:solidFill>
                <a:latin typeface="Calibri"/>
              </a:defRPr>
            </a:pPr>
            <a:r>
              <a:t>• Potential for nurse-led wound clinics</a:t>
            </a:r>
          </a:p>
          <a:p>
            <a:pPr>
              <a:spcAft>
                <a:spcPts val="640"/>
              </a:spcAft>
              <a:defRPr sz="1600">
                <a:solidFill>
                  <a:srgbClr val="3C3C3C"/>
                </a:solidFill>
                <a:latin typeface="Calibri"/>
              </a:defRPr>
            </a:pPr>
            <a:r>
              <a:t>• Aligns with Medicare wound management items and best-practice care</a:t>
            </a:r>
          </a:p>
          <a:p>
            <a:pPr>
              <a:spcAft>
                <a:spcPts val="640"/>
              </a:spcAft>
              <a:defRPr sz="1600">
                <a:solidFill>
                  <a:srgbClr val="3C3C3C"/>
                </a:solidFill>
                <a:latin typeface="Calibri"/>
              </a:defRPr>
            </a:pPr>
            <a:r>
              <a:t>• I'd love a GP champion to partner on wound care practice updates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828800" y="5303520"/>
            <a:ext cx="8229600" cy="1097280"/>
          </a:xfrm>
          <a:prstGeom prst="roundRect">
            <a:avLst/>
          </a:prstGeom>
          <a:solidFill>
            <a:srgbClr val="DC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1800" b="1">
                <a:solidFill>
                  <a:srgbClr val="006464"/>
                </a:solidFill>
                <a:latin typeface="Calibri"/>
              </a:defRPr>
            </a:pPr>
            <a:r>
              <a:t>💡 This isn't about criticism — it's about giving our patients the best chance to heal.</a:t>
            </a:r>
            <a:br/>
            <a:r>
              <a:t>Small change, big evidence, better outcomes.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808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371600"/>
            <a:ext cx="100584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000" b="1">
                <a:solidFill>
                  <a:srgbClr val="FFFFFF"/>
                </a:solidFill>
                <a:latin typeface="Calibri"/>
              </a:defRPr>
            </a:pPr>
            <a:r>
              <a:t>Discussion &amp; Questions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274320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0">
                <a:solidFill>
                  <a:srgbClr val="C8F0F0"/>
                </a:solidFill>
                <a:latin typeface="Calibri"/>
              </a:defRPr>
            </a:pPr>
            <a:r>
              <a:t>What are your thoughts?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286000" y="3657600"/>
            <a:ext cx="73152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000">
                <a:solidFill>
                  <a:srgbClr val="C8F0F0"/>
                </a:solidFill>
                <a:latin typeface="Calibri"/>
              </a:defRPr>
            </a:pPr>
            <a:r>
              <a:t>• Would anyone be interested in championing this with me?</a:t>
            </a:r>
          </a:p>
          <a:p>
            <a:pPr>
              <a:spcAft>
                <a:spcPts val="800"/>
              </a:spcAft>
              <a:defRPr sz="2000">
                <a:solidFill>
                  <a:srgbClr val="C8F0F0"/>
                </a:solidFill>
                <a:latin typeface="Calibri"/>
              </a:defRPr>
            </a:pPr>
            <a:r>
              <a:t>• Can we trial saline-first cleansing for 4 weeks?</a:t>
            </a:r>
          </a:p>
          <a:p>
            <a:pPr>
              <a:spcAft>
                <a:spcPts val="800"/>
              </a:spcAft>
              <a:defRPr sz="2000">
                <a:solidFill>
                  <a:srgbClr val="C8F0F0"/>
                </a:solidFill>
                <a:latin typeface="Calibri"/>
              </a:defRPr>
            </a:pPr>
            <a:r>
              <a:t>• Would a wound cleansing quick-reference card be useful?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566928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A0C8C8"/>
                </a:solidFill>
                <a:latin typeface="Calibri"/>
              </a:defRPr>
            </a:pPr>
            <a:r>
              <a:t>Reference: IWII (2025) Therapeutic Wound &amp; Skin Cleansing:</a:t>
            </a:r>
            <a:br/>
            <a:r>
              <a:t>Clinical Evidence and Recommendations. Wounds International.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